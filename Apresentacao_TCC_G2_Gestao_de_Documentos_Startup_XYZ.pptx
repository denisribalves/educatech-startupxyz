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embeddedFontLst>
    <p:embeddedFont>
      <p:font typeface="Play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I1RkCJO83A4NtIIieubCHARoE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28D791-66C9-4469-9DCA-28F33557A297}">
  <a:tblStyle styleId="{7128D791-66C9-4469-9DCA-28F33557A29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denisribalves/educatech-startupxyz.git" TargetMode="External"/><Relationship Id="rId4" Type="http://schemas.openxmlformats.org/officeDocument/2006/relationships/image" Target="../media/image2.jpg"/><Relationship Id="rId5" Type="http://schemas.openxmlformats.org/officeDocument/2006/relationships/hyperlink" Target="http://www.youtube.com/watch?v=z-TQeOL4t9g" TargetMode="External"/><Relationship Id="rId6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04B"/>
              </a:buClr>
              <a:buSzPts val="1600"/>
              <a:buFont typeface="Arial"/>
              <a:buNone/>
            </a:pPr>
            <a:r>
              <a:rPr b="1" i="0" lang="pt-BR" spc="0" sz="1600" u="none" cap="none" strike="noStrike">
                <a:solidFill>
                  <a:srgbClr val="F0A04B"/>
                </a:solidFill>
                <a:latin typeface="Arial"/>
                <a:ea typeface="Arial"/>
                <a:cs typeface="Arial"/>
                <a:sym typeface="Arial"/>
              </a:rPr>
              <a:t>TCC AWS · Case de Arquitetura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640080" y="22860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pt-BR" spc="0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Gestão de Documentos para IA</a:t>
            </a:r>
            <a:endParaRPr b="0" i="0" spc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40080" y="33832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0" i="0" lang="pt-BR" spc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Startup XYZ: arquitetura serverless, segura e de baixo custo</a:t>
            </a:r>
            <a:endParaRPr b="0" i="0" spc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40075" y="4370208"/>
            <a:ext cx="111492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1DC"/>
              </a:buClr>
              <a:buSzPts val="1600"/>
              <a:buFont typeface="Arial"/>
              <a:buNone/>
            </a:pPr>
            <a:r>
              <a:rPr b="0" i="0" lang="pt-BR" spc="0" sz="1700" u="none" cap="none" strike="noStrike">
                <a:solidFill>
                  <a:srgbClr val="C9D1DC"/>
                </a:solidFill>
                <a:latin typeface="Arial"/>
                <a:ea typeface="Arial"/>
                <a:cs typeface="Arial"/>
                <a:sym typeface="Arial"/>
              </a:rPr>
              <a:t>Equipe: Grupo 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1DC"/>
              </a:buClr>
              <a:buSzPts val="1600"/>
              <a:buFont typeface="Arial"/>
              <a:buNone/>
            </a:pPr>
            <a:r>
              <a:t/>
            </a:r>
            <a:endParaRPr b="0" i="0" spc="0" sz="1700" u="none" cap="none" strike="noStrike">
              <a:solidFill>
                <a:srgbClr val="C9D1D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1DC"/>
              </a:buClr>
              <a:buSzPts val="1600"/>
              <a:buFont typeface="Arial"/>
              <a:buNone/>
            </a:pPr>
            <a:r>
              <a:rPr b="0" i="0" lang="pt-BR" spc="0" sz="1700" u="none" cap="none" strike="noStrike">
                <a:solidFill>
                  <a:srgbClr val="C9D1DC"/>
                </a:solidFill>
                <a:latin typeface="Arial"/>
                <a:ea typeface="Arial"/>
                <a:cs typeface="Arial"/>
                <a:sym typeface="Arial"/>
              </a:rPr>
              <a:t>Integrantes: Denis, Juliano, Beatriz Bicalho, Kauan, Luís Augusto, Gustavo Costa, Beatriz Vaz, Miguel</a:t>
            </a:r>
            <a:endParaRPr b="0" i="0" spc="0" sz="1700" u="none" cap="none" strike="noStrike">
              <a:solidFill>
                <a:srgbClr val="C9D1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C4C3BF"/>
                </a:solidFill>
                <a:latin typeface="Arial"/>
                <a:ea typeface="Arial"/>
                <a:cs typeface="Arial"/>
                <a:sym typeface="Arial"/>
              </a:rPr>
              <a:t>Gustavo</a:t>
            </a:r>
            <a:endParaRPr b="0" i="0" spc="0" sz="1400" u="none" cap="none" strike="noStrike">
              <a:solidFill>
                <a:srgbClr val="C4C3B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Entendimento do problema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40080" y="1645920"/>
            <a:ext cx="3453384" cy="3291840"/>
          </a:xfrm>
          <a:prstGeom prst="roundRect">
            <a:avLst>
              <a:gd fmla="val 2778" name="adj"/>
            </a:avLst>
          </a:prstGeom>
          <a:solidFill>
            <a:srgbClr val="FFFFFF"/>
          </a:solidFill>
          <a:ln cap="flat" cmpd="sng" w="9525">
            <a:solidFill>
              <a:srgbClr val="E4E0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868680" y="1874520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800"/>
              <a:buFont typeface="Arial"/>
              <a:buNone/>
            </a:pPr>
            <a:r>
              <a:rPr b="1" i="0" lang="pt-BR" spc="0" sz="1800" u="none" cap="none" strike="noStrike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868680" y="2423160"/>
            <a:ext cx="299618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1800"/>
              <a:buFont typeface="Arial"/>
              <a:buNone/>
            </a:pPr>
            <a:r>
              <a:rPr b="0" i="0" lang="pt-BR" spc="0" sz="18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Startup XYZ, SaaS com Agente de IA que extrai dados de PDFs e imagens.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367784" y="1645920"/>
            <a:ext cx="3453384" cy="3291840"/>
          </a:xfrm>
          <a:prstGeom prst="roundRect">
            <a:avLst>
              <a:gd fmla="val 2778" name="adj"/>
            </a:avLst>
          </a:prstGeom>
          <a:solidFill>
            <a:srgbClr val="FFFFFF"/>
          </a:solidFill>
          <a:ln cap="flat" cmpd="sng" w="9525">
            <a:solidFill>
              <a:srgbClr val="E4E0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4596384" y="1874520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800"/>
              <a:buFont typeface="Arial"/>
              <a:buNone/>
            </a:pPr>
            <a:r>
              <a:rPr b="1" i="0" lang="pt-BR" spc="0" sz="1800" u="none" cap="none" strike="noStrike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Desafio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4596384" y="2423160"/>
            <a:ext cx="299618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1800"/>
              <a:buFont typeface="Arial"/>
              <a:buNone/>
            </a:pPr>
            <a:r>
              <a:rPr b="0" i="0" lang="pt-BR" spc="0" sz="18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50 mil arquivos por mês, nenhum pode ser deletado e o cliente acessa por 12 meses.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095488" y="1645920"/>
            <a:ext cx="3453384" cy="3291840"/>
          </a:xfrm>
          <a:prstGeom prst="roundRect">
            <a:avLst>
              <a:gd fmla="val 2778" name="adj"/>
            </a:avLst>
          </a:prstGeom>
          <a:solidFill>
            <a:srgbClr val="FFFFFF"/>
          </a:solidFill>
          <a:ln cap="flat" cmpd="sng" w="9525">
            <a:solidFill>
              <a:srgbClr val="E4E0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8324088" y="1874520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800"/>
              <a:buFont typeface="Arial"/>
              <a:buNone/>
            </a:pPr>
            <a:r>
              <a:rPr b="1" i="0" lang="pt-BR" spc="0" sz="1800" u="none" cap="none" strike="noStrike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8324088" y="2423160"/>
            <a:ext cx="299618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1800"/>
              <a:buFont typeface="Arial"/>
              <a:buNone/>
            </a:pPr>
            <a:r>
              <a:rPr b="0" i="0" lang="pt-BR" spc="0" sz="18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Sem arquivamento o custo cresce sem parar. Sem isolamento, um cliente pode ver dados de outro.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609650" y="6274300"/>
            <a:ext cx="3938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10287000" y="6509986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Gustavo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40080" y="1645920"/>
            <a:ext cx="5317236" cy="36576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E4E0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868680" y="187452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800"/>
              <a:buFont typeface="Arial"/>
              <a:buNone/>
            </a:pPr>
            <a:r>
              <a:rPr b="1" i="0" lang="pt-BR" spc="0" sz="1800" u="none" cap="none" strike="noStrike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Funcionais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868680" y="2423160"/>
            <a:ext cx="4860036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1800"/>
              <a:buFont typeface="Arial"/>
              <a:buNone/>
            </a:pPr>
            <a:r>
              <a:rPr b="0" i="0" lang="pt-BR" spc="0" sz="18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• Receber PDFs por API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330"/>
              </a:buClr>
              <a:buSzPts val="1800"/>
              <a:buFont typeface="Arial"/>
              <a:buNone/>
            </a:pPr>
            <a:r>
              <a:rPr b="0" i="0" lang="pt-BR" spc="0" sz="18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• Guardar por usuário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330"/>
              </a:buClr>
              <a:buSzPts val="1800"/>
              <a:buFont typeface="Arial"/>
              <a:buNone/>
            </a:pPr>
            <a:r>
              <a:rPr b="0" i="0" lang="pt-BR" spc="0" sz="18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• Listar, consultar e excluir logicamente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330"/>
              </a:buClr>
              <a:buSzPts val="1800"/>
              <a:buFont typeface="Arial"/>
              <a:buNone/>
            </a:pPr>
            <a:r>
              <a:rPr b="0" i="0" lang="pt-BR" spc="0" sz="18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• Cliente abre seus arquivos por 12 meses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330"/>
              </a:buClr>
              <a:buSzPts val="1800"/>
              <a:buFont typeface="Arial"/>
              <a:buNone/>
            </a:pPr>
            <a:r>
              <a:rPr b="0" i="0" lang="pt-BR" spc="0" sz="18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• Arquivar após 365 dias, sem apagar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6231636" y="1645920"/>
            <a:ext cx="5317236" cy="36576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E4E0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6460236" y="187452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800"/>
              <a:buFont typeface="Arial"/>
              <a:buNone/>
            </a:pPr>
            <a:r>
              <a:rPr b="1" i="0" lang="pt-BR" spc="0" sz="1800" u="none" cap="none" strike="noStrike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Não funcionais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6460236" y="2423160"/>
            <a:ext cx="4860036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1800"/>
              <a:buFont typeface="Arial"/>
              <a:buNone/>
            </a:pPr>
            <a:r>
              <a:rPr b="0" i="0" lang="pt-BR" spc="0" sz="18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• Segurança e isolamento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330"/>
              </a:buClr>
              <a:buSzPts val="1800"/>
              <a:buFont typeface="Arial"/>
              <a:buNone/>
            </a:pPr>
            <a:r>
              <a:rPr b="0" i="0" lang="pt-BR" spc="0" sz="18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• Escalabilidade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330"/>
              </a:buClr>
              <a:buSzPts val="1800"/>
              <a:buFont typeface="Arial"/>
              <a:buNone/>
            </a:pPr>
            <a:r>
              <a:rPr b="0" i="0" lang="pt-BR" spc="0" sz="18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• Custo baixo no longo prazo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330"/>
              </a:buClr>
              <a:buSzPts val="1800"/>
              <a:buFont typeface="Arial"/>
              <a:buNone/>
            </a:pPr>
            <a:r>
              <a:rPr b="0" i="0" lang="pt-BR" spc="0" sz="18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• Durabilidade e disponibilidade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330"/>
              </a:buClr>
              <a:buSzPts val="1800"/>
              <a:buFont typeface="Arial"/>
              <a:buNone/>
            </a:pPr>
            <a:r>
              <a:rPr b="0" i="0" lang="pt-BR" spc="0" sz="18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• Observabilidade e recuperação de desastres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Denis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E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Visão geral da solução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40080" y="1645920"/>
            <a:ext cx="1962302" cy="3474720"/>
          </a:xfrm>
          <a:prstGeom prst="roundRect">
            <a:avLst>
              <a:gd fmla="val 4660" name="adj"/>
            </a:avLst>
          </a:prstGeom>
          <a:solidFill>
            <a:srgbClr val="22314A"/>
          </a:solidFill>
          <a:ln cap="flat" cmpd="sng" w="9525">
            <a:solidFill>
              <a:srgbClr val="22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868680" y="1874520"/>
            <a:ext cx="1505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04B"/>
              </a:buClr>
              <a:buSzPts val="1700"/>
              <a:buFont typeface="Arial"/>
              <a:buNone/>
            </a:pPr>
            <a:r>
              <a:rPr b="1" i="0" lang="pt-BR" spc="0" sz="1700" u="none" cap="none" strike="noStrike">
                <a:solidFill>
                  <a:srgbClr val="F0A04B"/>
                </a:solidFill>
                <a:latin typeface="Arial"/>
                <a:ea typeface="Arial"/>
                <a:cs typeface="Arial"/>
                <a:sym typeface="Arial"/>
              </a:rPr>
              <a:t>1 Enviar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868680" y="2423160"/>
            <a:ext cx="1505102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cliente envia o PDF por uma API protegida por Cognito e WAF.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876702" y="1645920"/>
            <a:ext cx="1962302" cy="3474720"/>
          </a:xfrm>
          <a:prstGeom prst="roundRect">
            <a:avLst>
              <a:gd fmla="val 4660" name="adj"/>
            </a:avLst>
          </a:prstGeom>
          <a:solidFill>
            <a:srgbClr val="22314A"/>
          </a:solidFill>
          <a:ln cap="flat" cmpd="sng" w="9525">
            <a:solidFill>
              <a:srgbClr val="22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3105302" y="1874520"/>
            <a:ext cx="1505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04B"/>
              </a:buClr>
              <a:buSzPts val="1700"/>
              <a:buFont typeface="Arial"/>
              <a:buNone/>
            </a:pPr>
            <a:r>
              <a:rPr b="1" i="0" lang="pt-BR" spc="0" sz="1700" u="none" cap="none" strike="noStrike">
                <a:solidFill>
                  <a:srgbClr val="F0A04B"/>
                </a:solidFill>
                <a:latin typeface="Arial"/>
                <a:ea typeface="Arial"/>
                <a:cs typeface="Arial"/>
                <a:sym typeface="Arial"/>
              </a:rPr>
              <a:t>2 Guardar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3105302" y="2423160"/>
            <a:ext cx="1505102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arquivo vai para o S3 privado, em pasta com o ID do cliente. Os metadados vão para o DynamoDB.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113325" y="1645920"/>
            <a:ext cx="1962302" cy="3474720"/>
          </a:xfrm>
          <a:prstGeom prst="roundRect">
            <a:avLst>
              <a:gd fmla="val 4660" name="adj"/>
            </a:avLst>
          </a:prstGeom>
          <a:solidFill>
            <a:srgbClr val="22314A"/>
          </a:solidFill>
          <a:ln cap="flat" cmpd="sng" w="9525">
            <a:solidFill>
              <a:srgbClr val="22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5341925" y="1874520"/>
            <a:ext cx="1505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04B"/>
              </a:buClr>
              <a:buSzPts val="1700"/>
              <a:buFont typeface="Arial"/>
              <a:buNone/>
            </a:pPr>
            <a:r>
              <a:rPr b="1" i="0" lang="pt-BR" spc="0" sz="1700" u="none" cap="none" strike="noStrike">
                <a:solidFill>
                  <a:srgbClr val="F0A04B"/>
                </a:solidFill>
                <a:latin typeface="Arial"/>
                <a:ea typeface="Arial"/>
                <a:cs typeface="Arial"/>
                <a:sym typeface="Arial"/>
              </a:rPr>
              <a:t>3 Consultar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5341925" y="2423160"/>
            <a:ext cx="1505102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12 meses o cliente lista e abre o arquivo por um link temporário.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349947" y="1645920"/>
            <a:ext cx="1962302" cy="3474720"/>
          </a:xfrm>
          <a:prstGeom prst="roundRect">
            <a:avLst>
              <a:gd fmla="val 4660" name="adj"/>
            </a:avLst>
          </a:prstGeom>
          <a:solidFill>
            <a:srgbClr val="22314A"/>
          </a:solidFill>
          <a:ln cap="flat" cmpd="sng" w="9525">
            <a:solidFill>
              <a:srgbClr val="22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7578547" y="1874520"/>
            <a:ext cx="1505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04B"/>
              </a:buClr>
              <a:buSzPts val="1700"/>
              <a:buFont typeface="Arial"/>
              <a:buNone/>
            </a:pPr>
            <a:r>
              <a:rPr b="1" i="0" lang="pt-BR" spc="0" sz="1700" u="none" cap="none" strike="noStrike">
                <a:solidFill>
                  <a:srgbClr val="F0A04B"/>
                </a:solidFill>
                <a:latin typeface="Arial"/>
                <a:ea typeface="Arial"/>
                <a:cs typeface="Arial"/>
                <a:sym typeface="Arial"/>
              </a:rPr>
              <a:t>4 Excluir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7578547" y="2423160"/>
            <a:ext cx="1505102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exclusão é lógica: o documento sai da listagem, mas permanece guardado.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9586570" y="1645920"/>
            <a:ext cx="1962302" cy="3474720"/>
          </a:xfrm>
          <a:prstGeom prst="roundRect">
            <a:avLst>
              <a:gd fmla="val 4660" name="adj"/>
            </a:avLst>
          </a:prstGeom>
          <a:solidFill>
            <a:srgbClr val="22314A"/>
          </a:solidFill>
          <a:ln cap="flat" cmpd="sng" w="9525">
            <a:solidFill>
              <a:srgbClr val="22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9815170" y="1874520"/>
            <a:ext cx="1505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04B"/>
              </a:buClr>
              <a:buSzPts val="1700"/>
              <a:buFont typeface="Arial"/>
              <a:buNone/>
            </a:pPr>
            <a:r>
              <a:rPr b="1" i="0" lang="pt-BR" spc="0" sz="1700" u="none" cap="none" strike="noStrike">
                <a:solidFill>
                  <a:srgbClr val="F0A04B"/>
                </a:solidFill>
                <a:latin typeface="Arial"/>
                <a:ea typeface="Arial"/>
                <a:cs typeface="Arial"/>
                <a:sym typeface="Arial"/>
              </a:rPr>
              <a:t>5 Arquivar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9815170" y="2423160"/>
            <a:ext cx="1505102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Aos 90 dias o arquivo vai para Intelligent - Tiering  e, aos 365, para o Deep Archive.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640080" y="5394960"/>
            <a:ext cx="10908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1DC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C9D1DC"/>
                </a:solidFill>
                <a:latin typeface="Arial"/>
                <a:ea typeface="Arial"/>
                <a:cs typeface="Arial"/>
                <a:sym typeface="Arial"/>
              </a:rPr>
              <a:t>Tudo serverless: paga só pelo que usa.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D9D4C7"/>
                </a:solidFill>
                <a:latin typeface="Arial"/>
                <a:ea typeface="Arial"/>
                <a:cs typeface="Arial"/>
                <a:sym typeface="Arial"/>
              </a:rPr>
              <a:t>Juliano</a:t>
            </a:r>
            <a:endParaRPr b="0" i="0" spc="0" sz="1400" u="none" cap="none" strike="noStrike">
              <a:solidFill>
                <a:srgbClr val="D9D4C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/>
        </p:nvSpPr>
        <p:spPr>
          <a:xfrm>
            <a:off x="11291525" y="6413675"/>
            <a:ext cx="8211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Luís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5" title="TCC AWS Final (1)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" y="0"/>
            <a:ext cx="11182901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/>
        </p:nvSpPr>
        <p:spPr>
          <a:xfrm>
            <a:off x="900355" y="438875"/>
            <a:ext cx="1090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Serviços AWS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7" name="Google Shape;87;p6"/>
          <p:cNvGraphicFramePr/>
          <p:nvPr/>
        </p:nvGraphicFramePr>
        <p:xfrm>
          <a:off x="900361" y="17989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{7128D791-66C9-4469-9DCA-28F33557A297}</a:tableStyleId>
              </a:tblPr>
              <a:tblGrid>
                <a:gridCol w="3518500"/>
                <a:gridCol w="3518500"/>
                <a:gridCol w="3518500"/>
              </a:tblGrid>
              <a:tr h="47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4EF"/>
                        </a:buClr>
                        <a:buSzPts val="1467"/>
                        <a:buFont typeface="Arial"/>
                        <a:buNone/>
                      </a:pPr>
                      <a:r>
                        <a:rPr b="1" lang="pt-BR" spc="0" sz="1467" u="none" cap="none" strike="noStrike">
                          <a:solidFill>
                            <a:srgbClr val="F6F4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Serviço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4EF"/>
                        </a:buClr>
                        <a:buSzPts val="1467"/>
                        <a:buFont typeface="Arial"/>
                        <a:buNone/>
                      </a:pPr>
                      <a:r>
                        <a:rPr b="1" lang="pt-BR" spc="0" sz="1467" u="none" cap="none" strike="noStrike">
                          <a:solidFill>
                            <a:srgbClr val="F6F4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 que faz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4EF"/>
                        </a:buClr>
                        <a:buSzPts val="1467"/>
                        <a:buFont typeface="Arial"/>
                        <a:buNone/>
                      </a:pPr>
                      <a:r>
                        <a:rPr b="1" lang="pt-BR" spc="0" sz="1467" u="none" cap="none" strike="noStrike">
                          <a:solidFill>
                            <a:srgbClr val="F6F4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Papel na solução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E"/>
                    </a:solidFill>
                  </a:tcPr>
                </a:tc>
              </a:tr>
              <a:tr h="73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Gateway + WAF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Entrada HTTPS protegida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Recebe as chamadas e bloqueia tráfego malicioso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Cognito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Identidade e login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Emite o JWT com o ID do usuário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Lambda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Código sob demanda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Quatro funções: enviar, listar, consultar, excluir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S3 + KMS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Objetos criptografados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Guarda os PDFs e aplica o Lifecycle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DynamoDB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Banco NoSQL sob demanda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Metadados e status ativo ou excluído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CloudWatch + X-Ray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Observabilidade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67"/>
                        <a:buFont typeface="Arial"/>
                        <a:buNone/>
                      </a:pPr>
                      <a:r>
                        <a:rPr lang="pt-BR" spc="0" sz="1467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Logs, alarmes e rastreio das requisições</a:t>
                      </a:r>
                      <a:endParaRPr spc="0" sz="1467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" name="Google Shape;88;p6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Beatriz Vaz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/>
        </p:nvSpPr>
        <p:spPr>
          <a:xfrm>
            <a:off x="640080" y="457200"/>
            <a:ext cx="1090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Por que esta arquitetura?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" name="Google Shape;95;p7"/>
          <p:cNvGraphicFramePr/>
          <p:nvPr/>
        </p:nvGraphicFramePr>
        <p:xfrm>
          <a:off x="601726" y="19655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{7128D791-66C9-4469-9DCA-28F33557A297}</a:tableStyleId>
              </a:tblPr>
              <a:tblGrid>
                <a:gridCol w="3518500"/>
                <a:gridCol w="3518500"/>
                <a:gridCol w="3518500"/>
              </a:tblGrid>
              <a:tr h="43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4EF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pc="0" sz="1400" u="none" cap="none" strike="noStrike">
                          <a:solidFill>
                            <a:srgbClr val="F6F4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Escolha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4EF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pc="0" sz="1400" u="none" cap="none" strike="noStrike">
                          <a:solidFill>
                            <a:srgbClr val="F6F4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Alternativa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4EF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pc="0" sz="1400" u="none" cap="none" strike="noStrike">
                          <a:solidFill>
                            <a:srgbClr val="F6F4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Limitação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E"/>
                    </a:solidFill>
                  </a:tcPr>
                </a:tc>
              </a:tr>
              <a:tr h="43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Lambda + API Gateway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EC2 com load balancer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Payload de 6 MB e cold start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S3 + DynamoDB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Só S3, listando o bucket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Dois serviços para manter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Exclusão lógica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Apagar o arquivo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 dado segue ocupando espaço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Deep Archive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Glacier Instant Retrieval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Restauração em 12 a 48 horas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 assinada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Servir pela Lambda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Vale até expirar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" name="Google Shape;96;p7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Beatriz Bicalho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Mapeamento dos requisitos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" name="Google Shape;103;p8"/>
          <p:cNvGraphicFramePr/>
          <p:nvPr/>
        </p:nvGraphicFramePr>
        <p:xfrm>
          <a:off x="64008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{7128D791-66C9-4469-9DCA-28F33557A297}</a:tableStyleId>
              </a:tblPr>
              <a:tblGrid>
                <a:gridCol w="3840475"/>
                <a:gridCol w="7031725"/>
              </a:tblGrid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pc="0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Requisito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pc="0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Como foi atendido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E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Nenhum arquivo deletado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</a:rPr>
                        <a:t>Exclusão lógica: só marca no DynamoDB, o objeto fica no S3</a:t>
                      </a:r>
                      <a:endParaRPr spc="0" sz="1500" u="none" cap="none" strike="noStrike">
                        <a:solidFill>
                          <a:srgbClr val="1B2330"/>
                        </a:solidFill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Acesso por 12 meses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</a:rPr>
                        <a:t>Listagem pelo DynamoDB e URL assinada no S3</a:t>
                      </a:r>
                      <a:endParaRPr spc="0" sz="1500" u="none" cap="none" strike="noStrike">
                        <a:solidFill>
                          <a:srgbClr val="1B2330"/>
                        </a:solidFill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E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 baixo no longo prazo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Lifecycle: In</a:t>
                      </a:r>
                      <a:r>
                        <a:rPr lang="pt-BR" spc="0" sz="1500" u="none" cap="none" strike="noStrike">
                          <a:solidFill>
                            <a:srgbClr val="1B2330"/>
                          </a:solidFill>
                        </a:rPr>
                        <a:t>telligent-Tiering</a:t>
                      </a:r>
                      <a:r>
                        <a:rPr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(90 dias) e Deep Archive (365 dias)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Isolamento entre clientes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Prefixo por usuário + ID vindo do JWT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E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 acesso público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Block Public Access + bucket privado + </a:t>
                      </a:r>
                      <a:r>
                        <a:rPr lang="pt-BR" spc="0" sz="1500" u="none" cap="none" strike="noStrike">
                          <a:solidFill>
                            <a:srgbClr val="1B2330"/>
                          </a:solidFill>
                        </a:rPr>
                        <a:t>SSE-KMS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Serverless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Gateway + Lambda + S3 + DynamoDB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104" name="Google Shape;104;p8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Beatriz Bicalho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Como a solução cresce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640080" y="1645920"/>
            <a:ext cx="3453384" cy="3108960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 cap="flat" cmpd="sng" w="9525">
            <a:solidFill>
              <a:srgbClr val="E4E0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 txBox="1"/>
          <p:nvPr/>
        </p:nvSpPr>
        <p:spPr>
          <a:xfrm>
            <a:off x="868680" y="1874520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800"/>
              <a:buFont typeface="Arial"/>
              <a:buNone/>
            </a:pPr>
            <a:r>
              <a:rPr b="1" i="0" lang="pt-BR" spc="0" sz="1800" u="none" cap="none" strike="noStrike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Mais usuários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868680" y="2423160"/>
            <a:ext cx="2996184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1700"/>
              <a:buFont typeface="Arial"/>
              <a:buNone/>
            </a:pPr>
            <a:r>
              <a:rPr b="0" i="0" lang="pt-BR" spc="0" sz="17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API Gateway, Lambda e DynamoDB escalam por requisição, sem servidores.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4367784" y="1645920"/>
            <a:ext cx="3453384" cy="3108960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 cap="flat" cmpd="sng" w="9525">
            <a:solidFill>
              <a:srgbClr val="E4E0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4596384" y="1874520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800"/>
              <a:buFont typeface="Arial"/>
              <a:buNone/>
            </a:pPr>
            <a:r>
              <a:rPr b="1" i="0" lang="pt-BR" spc="0" sz="1800" u="none" cap="none" strike="noStrike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Armazenamento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 txBox="1"/>
          <p:nvPr/>
        </p:nvSpPr>
        <p:spPr>
          <a:xfrm>
            <a:off x="4596384" y="2423160"/>
            <a:ext cx="2996184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1700"/>
              <a:buFont typeface="Arial"/>
              <a:buNone/>
            </a:pPr>
            <a:r>
              <a:rPr b="0" i="0" lang="pt-BR" spc="0" sz="17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S3 sem limite prático; um prefixo por usuário distribui a carga.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8095488" y="1645920"/>
            <a:ext cx="3453384" cy="3108960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 cap="flat" cmpd="sng" w="9525">
            <a:solidFill>
              <a:srgbClr val="E4E0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9"/>
          <p:cNvSpPr txBox="1"/>
          <p:nvPr/>
        </p:nvSpPr>
        <p:spPr>
          <a:xfrm>
            <a:off x="8324088" y="1874520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800"/>
              <a:buFont typeface="Arial"/>
              <a:buNone/>
            </a:pPr>
            <a:r>
              <a:rPr b="1" i="0" lang="pt-BR" spc="0" sz="1800" u="none" cap="none" strike="noStrike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Gargalos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 txBox="1"/>
          <p:nvPr/>
        </p:nvSpPr>
        <p:spPr>
          <a:xfrm>
            <a:off x="8324088" y="2423160"/>
            <a:ext cx="2996184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1700"/>
              <a:buFont typeface="Arial"/>
              <a:buNone/>
            </a:pPr>
            <a:r>
              <a:rPr b="0" i="0" lang="pt-BR" spc="0" sz="17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Payload da API (presigned POST) e abuso (WAF). A listagem grande já é resolvida pelo DynamoDB.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Denis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Como reage a falhas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7" name="Google Shape;127;p10"/>
          <p:cNvGraphicFramePr/>
          <p:nvPr/>
        </p:nvGraphicFramePr>
        <p:xfrm>
          <a:off x="823686" y="17421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{7128D791-66C9-4469-9DCA-28F33557A297}</a:tableStyleId>
              </a:tblPr>
              <a:tblGrid>
                <a:gridCol w="5277750"/>
                <a:gridCol w="5277750"/>
              </a:tblGrid>
              <a:tr h="45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4EF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pc="0" sz="1500" u="none" cap="none" strike="noStrike">
                          <a:solidFill>
                            <a:srgbClr val="F6F4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Falha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4EF"/>
                        </a:buClr>
                        <a:buSzPts val="1500"/>
                        <a:buFont typeface="Arial"/>
                        <a:buNone/>
                      </a:pPr>
                      <a:r>
                        <a:rPr b="1" lang="pt-BR" spc="0" sz="1500" u="none" cap="none" strike="noStrike">
                          <a:solidFill>
                            <a:srgbClr val="F6F4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E"/>
                    </a:solidFill>
                  </a:tcPr>
                </a:tc>
              </a:tr>
              <a:tr h="45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 em uma Lambda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outras execuções seguem; o cliente tenta de novo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Zona indisponível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Serviços regionais multi-AZ: segue no ar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Região indisponível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Réplica de S3 e DynamoDB em us-east-1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Exclusão por engano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500"/>
                        <a:buFont typeface="Arial"/>
                        <a:buNone/>
                      </a:pPr>
                      <a:r>
                        <a:rPr lang="pt-BR" spc="0" sz="15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 arquivo continua no S3; basta reverter o status</a:t>
                      </a:r>
                      <a:endParaRPr spc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" name="Google Shape;128;p10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Denis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Estratégia de segurança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640080" y="1645920"/>
            <a:ext cx="2521458" cy="3474720"/>
          </a:xfrm>
          <a:prstGeom prst="roundRect">
            <a:avLst>
              <a:gd fmla="val 3626" name="adj"/>
            </a:avLst>
          </a:prstGeom>
          <a:solidFill>
            <a:srgbClr val="FFFFFF"/>
          </a:solidFill>
          <a:ln cap="flat" cmpd="sng" w="9525">
            <a:solidFill>
              <a:srgbClr val="E4E0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1"/>
          <p:cNvSpPr txBox="1"/>
          <p:nvPr/>
        </p:nvSpPr>
        <p:spPr>
          <a:xfrm>
            <a:off x="868680" y="1874520"/>
            <a:ext cx="20642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700"/>
              <a:buFont typeface="Arial"/>
              <a:buNone/>
            </a:pPr>
            <a:r>
              <a:rPr b="1" i="0" lang="pt-BR" spc="0" sz="1700" u="none" cap="none" strike="noStrike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Identidade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 txBox="1"/>
          <p:nvPr/>
        </p:nvSpPr>
        <p:spPr>
          <a:xfrm>
            <a:off x="868680" y="2423160"/>
            <a:ext cx="2064258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1500"/>
              <a:buFont typeface="Arial"/>
              <a:buNone/>
            </a:pPr>
            <a:r>
              <a:rPr b="0" i="0" lang="pt-BR" spc="0" sz="15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Cognito e JWT; o ID do usuário nunca vem do corpo da requisição. Roles de menor privilégio.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3435858" y="1645920"/>
            <a:ext cx="2521458" cy="3474720"/>
          </a:xfrm>
          <a:prstGeom prst="roundRect">
            <a:avLst>
              <a:gd fmla="val 3626" name="adj"/>
            </a:avLst>
          </a:prstGeom>
          <a:solidFill>
            <a:srgbClr val="FFFFFF"/>
          </a:solidFill>
          <a:ln cap="flat" cmpd="sng" w="9525">
            <a:solidFill>
              <a:srgbClr val="E4E0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1"/>
          <p:cNvSpPr txBox="1"/>
          <p:nvPr/>
        </p:nvSpPr>
        <p:spPr>
          <a:xfrm>
            <a:off x="3664458" y="1874520"/>
            <a:ext cx="20642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700"/>
              <a:buFont typeface="Arial"/>
              <a:buNone/>
            </a:pPr>
            <a:r>
              <a:rPr b="1" i="0" lang="pt-BR" spc="0" sz="1700" u="none" cap="none" strike="noStrike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Borda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 txBox="1"/>
          <p:nvPr/>
        </p:nvSpPr>
        <p:spPr>
          <a:xfrm>
            <a:off x="3664458" y="2423160"/>
            <a:ext cx="2064258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1500"/>
              <a:buFont typeface="Arial"/>
              <a:buNone/>
            </a:pPr>
            <a:r>
              <a:rPr b="0" i="0" lang="pt-BR" spc="0" sz="15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WAF com regras gerenciadas e limite de requisições na frente do API Gateway.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6231636" y="1645920"/>
            <a:ext cx="2521458" cy="3474720"/>
          </a:xfrm>
          <a:prstGeom prst="roundRect">
            <a:avLst>
              <a:gd fmla="val 3626" name="adj"/>
            </a:avLst>
          </a:prstGeom>
          <a:solidFill>
            <a:srgbClr val="FFFFFF"/>
          </a:solidFill>
          <a:ln cap="flat" cmpd="sng" w="9525">
            <a:solidFill>
              <a:srgbClr val="E4E0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/>
          <p:nvPr/>
        </p:nvSpPr>
        <p:spPr>
          <a:xfrm>
            <a:off x="6460236" y="1874520"/>
            <a:ext cx="20642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700"/>
              <a:buFont typeface="Arial"/>
              <a:buNone/>
            </a:pPr>
            <a:r>
              <a:rPr b="1" i="0" lang="pt-BR" spc="0" sz="1700" u="none" cap="none" strike="noStrike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Acesso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 txBox="1"/>
          <p:nvPr/>
        </p:nvSpPr>
        <p:spPr>
          <a:xfrm>
            <a:off x="6460236" y="2423160"/>
            <a:ext cx="2064258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1500"/>
              <a:buFont typeface="Arial"/>
              <a:buNone/>
            </a:pPr>
            <a:r>
              <a:rPr b="0" i="0" lang="pt-BR" spc="0" sz="15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Block Public Access, TLS obrigatório, URL assinada de 5 minutos e delete negado.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9027414" y="1645920"/>
            <a:ext cx="2521458" cy="3474720"/>
          </a:xfrm>
          <a:prstGeom prst="roundRect">
            <a:avLst>
              <a:gd fmla="val 3626" name="adj"/>
            </a:avLst>
          </a:prstGeom>
          <a:solidFill>
            <a:srgbClr val="FFFFFF"/>
          </a:solidFill>
          <a:ln cap="flat" cmpd="sng" w="9525">
            <a:solidFill>
              <a:srgbClr val="E4E0D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1"/>
          <p:cNvSpPr txBox="1"/>
          <p:nvPr/>
        </p:nvSpPr>
        <p:spPr>
          <a:xfrm>
            <a:off x="9256014" y="1874520"/>
            <a:ext cx="20642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700"/>
              <a:buFont typeface="Arial"/>
              <a:buNone/>
            </a:pPr>
            <a:r>
              <a:rPr b="1" i="0" lang="pt-BR" spc="0" sz="1700" u="none" cap="none" strike="noStrike">
                <a:solidFill>
                  <a:srgbClr val="B45F06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 b="0" i="0" spc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9256014" y="2423160"/>
            <a:ext cx="2064258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1500"/>
              <a:buFont typeface="Arial"/>
              <a:buNone/>
            </a:pPr>
            <a:r>
              <a:rPr b="0" i="0" lang="pt-BR" spc="0" sz="15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KMS no S3 e no DynamoDB, versionamento e auditoria com CloudTrail.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Luís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Custos (São Paulo – Virgínia do Norte)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12"/>
          <p:cNvGraphicFramePr/>
          <p:nvPr/>
        </p:nvGraphicFramePr>
        <p:xfrm>
          <a:off x="1006044" y="118872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{7128D791-66C9-4469-9DCA-28F33557A297}</a:tableStyleId>
              </a:tblPr>
              <a:tblGrid>
                <a:gridCol w="5462275"/>
                <a:gridCol w="2169825"/>
                <a:gridCol w="2256825"/>
              </a:tblGrid>
              <a:tr h="35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Serviços AWS – Ano 01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Custo Mensal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Custo Anual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Amazon S3 (Standard + IA + Glacier)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US$ 8,00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US$ 96,00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S3 Cross-Region Replication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US$ 12,00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US$ 144,00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Amazon API Gateway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US$ 10,00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US$ 120,00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AWS Lambda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US$ 8,00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US$ 96,00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Amazon DynamoDB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US$ 12,00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US$ 144,00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Amazon CloudWatch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US$ 10,00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US$ 120,00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AWS X-Ray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US$ 2,00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US$ 24,00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AWS WAF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US$ 10,00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US$ 120,00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Amazon GuardDuty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US$ 8,00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US$ 96,00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AWS Config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US$ 4,00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US$ 48,00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AWS KMS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US$ 1,00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US$ 12,00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Amazon SNS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US$ 0,50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US$ 6,00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AWS Budgets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US$ 0,50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US$ 6,00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TOTAL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US$ 86,00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US$ 1.032,00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12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Miguel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Custos (São Paulo – Virgínia do Norte)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" name="Google Shape;162;p15"/>
          <p:cNvGraphicFramePr/>
          <p:nvPr/>
        </p:nvGraphicFramePr>
        <p:xfrm>
          <a:off x="1075267" y="147772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{7128D791-66C9-4469-9DCA-28F33557A297}</a:tableStyleId>
              </a:tblPr>
              <a:tblGrid>
                <a:gridCol w="1448000"/>
                <a:gridCol w="2001650"/>
                <a:gridCol w="1810900"/>
                <a:gridCol w="2104850"/>
                <a:gridCol w="204812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Horizonte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Custo Mensal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Custo Anual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Ano 1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US$ 86,00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R$ 516,00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US$ 1.032,00 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R$ 6.192,00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Ano 3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US$ 143,00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R$ 858,00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US$ 1.716,00 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R$ 10.296,00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Ano 5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US$ 192,00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R$ 1.152,00</a:t>
                      </a:r>
                      <a:endParaRPr spc="0"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US$ 2.304,00 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R$ 13.824,00</a:t>
                      </a:r>
                      <a:endParaRPr spc="0"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15"/>
          <p:cNvSpPr txBox="1"/>
          <p:nvPr/>
        </p:nvSpPr>
        <p:spPr>
          <a:xfrm>
            <a:off x="1334267" y="5375964"/>
            <a:ext cx="609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pc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**Conversão para Reais (câmbio estimado de R$ 6,00/USD)</a:t>
            </a:r>
            <a:endParaRPr b="1" i="0" spc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pc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  Anos 3 e 5 são previsões</a:t>
            </a:r>
            <a:endParaRPr b="1" i="0" spc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4" name="Google Shape;164;p15"/>
          <p:cNvGraphicFramePr/>
          <p:nvPr/>
        </p:nvGraphicFramePr>
        <p:xfrm>
          <a:off x="1077611" y="354994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{7128D791-66C9-4469-9DCA-28F33557A297}</a:tableStyleId>
              </a:tblPr>
              <a:tblGrid>
                <a:gridCol w="1415875"/>
                <a:gridCol w="1855375"/>
                <a:gridCol w="1986950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Período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USD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R$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1 ano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$ 1.032,00 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6.192,00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3 anos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$ 5.148,00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30.888,00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5 anos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$ 17.760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106.560,00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15"/>
          <p:cNvSpPr txBox="1"/>
          <p:nvPr/>
        </p:nvSpPr>
        <p:spPr>
          <a:xfrm>
            <a:off x="1029547" y="3106064"/>
            <a:ext cx="60979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pc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 Acumulado do Projeto</a:t>
            </a:r>
            <a:endParaRPr b="1" i="0" spc="0" sz="2000" u="none" cap="none" strike="noStrike">
              <a:solidFill>
                <a:srgbClr val="0F476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Miguel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Otimização (Virgínia do Norte - Ohio)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16"/>
          <p:cNvGraphicFramePr/>
          <p:nvPr/>
        </p:nvGraphicFramePr>
        <p:xfrm>
          <a:off x="1006044" y="118872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{7128D791-66C9-4469-9DCA-28F33557A297}</a:tableStyleId>
              </a:tblPr>
              <a:tblGrid>
                <a:gridCol w="5462275"/>
                <a:gridCol w="2169825"/>
                <a:gridCol w="2256825"/>
              </a:tblGrid>
              <a:tr h="35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Serviços AWS – Ano 01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Custo Mensal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Custo Anual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Amazon S3 (Standard + IA + Glacier)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S3 Cross-Region Replication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Amazon API Gateway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120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AWS Lambda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Amazon DynamoDB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144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Amazon CloudWatch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AWS X-Ray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AWS WAF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Amazon GuardDuty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96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AWS Config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AWS KMS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Amazon SNS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AWS Budgets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0,50</a:t>
                      </a:r>
                      <a:endParaRPr spc="0"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pc="0" sz="2000" u="none" cap="none" strike="noStrike"/>
                        <a:t>US$ </a:t>
                      </a:r>
                      <a:r>
                        <a:rPr b="0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r>
                        <a:rPr b="0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,00</a:t>
                      </a:r>
                      <a:endParaRPr b="0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TOTAL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</a:t>
                      </a:r>
                      <a:r>
                        <a:rPr b="1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83,00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</a:t>
                      </a:r>
                      <a:r>
                        <a:rPr b="1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996,00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16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Kauan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Custo Otimização (Virgínia do Norte - Ohio)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1" name="Google Shape;181;p19"/>
          <p:cNvGraphicFramePr/>
          <p:nvPr/>
        </p:nvGraphicFramePr>
        <p:xfrm>
          <a:off x="1075267" y="1426709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{7128D791-66C9-4469-9DCA-28F33557A297}</a:tableStyleId>
              </a:tblPr>
              <a:tblGrid>
                <a:gridCol w="1430825"/>
                <a:gridCol w="1965525"/>
                <a:gridCol w="1932725"/>
                <a:gridCol w="2183450"/>
                <a:gridCol w="196632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Horizonte</a:t>
                      </a:r>
                      <a:endParaRPr b="1" spc="0" sz="20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Custo Mensal</a:t>
                      </a:r>
                      <a:endParaRPr b="1" spc="0" sz="20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Custo Anual</a:t>
                      </a:r>
                      <a:endParaRPr b="1" spc="0" sz="20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Ano 1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US$ 83,00   →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R$ 498,00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US$ 996,00   →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R$ 5.976,00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Ano 3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US$ 135,00 →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R$ 810,00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US$ 1.620,00 →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R$ 9.720,00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Ano 5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US$ 179,00 →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R$ 1.074,00</a:t>
                      </a:r>
                      <a:endParaRPr spc="0"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US$ 2.148,00 →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R$ 12.888,00</a:t>
                      </a:r>
                      <a:endParaRPr spc="0"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19"/>
          <p:cNvSpPr txBox="1"/>
          <p:nvPr/>
        </p:nvSpPr>
        <p:spPr>
          <a:xfrm>
            <a:off x="1075267" y="5262014"/>
            <a:ext cx="609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pc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**Conversão para Reais (câmbio estimado de R$ 6,00/USD)</a:t>
            </a:r>
            <a:endParaRPr b="1" i="0" spc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pc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  Anos 3 e 5 são previsões</a:t>
            </a:r>
            <a:endParaRPr b="1" i="0" spc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3" name="Google Shape;183;p19"/>
          <p:cNvGraphicFramePr/>
          <p:nvPr/>
        </p:nvGraphicFramePr>
        <p:xfrm>
          <a:off x="1029547" y="3588187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{7128D791-66C9-4469-9DCA-28F33557A297}</a:tableStyleId>
              </a:tblPr>
              <a:tblGrid>
                <a:gridCol w="1229875"/>
                <a:gridCol w="1808225"/>
                <a:gridCol w="1446900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Período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USD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R$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1 ano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$ 996,00 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5.976,00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3 anos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$ 4.860,00 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29.160,00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5 anos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$ 10.740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64.440,00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19"/>
          <p:cNvSpPr txBox="1"/>
          <p:nvPr/>
        </p:nvSpPr>
        <p:spPr>
          <a:xfrm>
            <a:off x="1029547" y="3106064"/>
            <a:ext cx="374565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pc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 Acumulado do Projeto</a:t>
            </a:r>
            <a:endParaRPr b="1" i="0" spc="0" sz="2000" u="none" cap="none" strike="noStrike">
              <a:solidFill>
                <a:srgbClr val="0F476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185" name="Google Shape;185;p19"/>
          <p:cNvGraphicFramePr/>
          <p:nvPr/>
        </p:nvGraphicFramePr>
        <p:xfrm>
          <a:off x="5799666" y="3588187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{7128D791-66C9-4469-9DCA-28F33557A297}</a:tableStyleId>
              </a:tblPr>
              <a:tblGrid>
                <a:gridCol w="2555400"/>
                <a:gridCol w="2448400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Cenário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Custo Acumulado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us-east-1 + us-east-2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USD 10.740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sa-east-1 + us-east-2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USD 17.760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pc="0" sz="2000" u="none" cap="none" strike="noStrike"/>
                        <a:t>Economia</a:t>
                      </a:r>
                      <a:endParaRPr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pc="0" sz="2000" u="none" cap="none" strike="noStrike"/>
                        <a:t>USD 7.020 (≈ 39%)</a:t>
                      </a:r>
                      <a:endParaRPr b="1" spc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p19"/>
          <p:cNvSpPr txBox="1"/>
          <p:nvPr/>
        </p:nvSpPr>
        <p:spPr>
          <a:xfrm>
            <a:off x="5799666" y="3106064"/>
            <a:ext cx="36237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pc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Comparação entre soluções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Kauan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Estratégia de recuperação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p21"/>
          <p:cNvGraphicFramePr/>
          <p:nvPr/>
        </p:nvGraphicFramePr>
        <p:xfrm>
          <a:off x="823686" y="15246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{7128D791-66C9-4469-9DCA-28F33557A297}</a:tableStyleId>
              </a:tblPr>
              <a:tblGrid>
                <a:gridCol w="3518500"/>
                <a:gridCol w="3518500"/>
                <a:gridCol w="3518500"/>
              </a:tblGrid>
              <a:tr h="43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4EF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pc="0" sz="1400" u="none" cap="none" strike="noStrike">
                          <a:solidFill>
                            <a:srgbClr val="F6F4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Cenário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4EF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pc="0" sz="1400" u="none" cap="none" strike="noStrike">
                          <a:solidFill>
                            <a:srgbClr val="F6F4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Proteção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4EF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pc="0" sz="1400" u="none" cap="none" strike="noStrike">
                          <a:solidFill>
                            <a:srgbClr val="F6F4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Recuperação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E"/>
                    </a:solidFill>
                  </a:tcPr>
                </a:tc>
              </a:tr>
              <a:tr h="43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Excluído por engano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Exclusão lógica: objeto intacto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Reverter o status no DynamoDB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61D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Metadados perdidos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PITR do DynamoDB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Restaurar a um ponto no tempo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Arquivo no Deep Archive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Retenção indefinida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Restaurar do S3 em 12 a 48 horas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Região indisponível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Réplica em us-east-1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Apontar para a região secundária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Código ou infra perdidos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GitHub + CloudFormation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pc="0" sz="1400" u="none" cap="none" strike="noStrike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Reimplantar pelo pipeline</a:t>
                      </a:r>
                      <a:endParaRPr spc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21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Juliano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Projeto em Funcionamento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gora transforma toda a imagem em uma forma redonda" id="202" name="Google Shape;202;p2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150" y="5952552"/>
            <a:ext cx="873677" cy="58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Denis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te canal promove conteúdo de tecnologia, informação, inovação e tudo o que está ligado a tecnoliga." id="204" name="Google Shape;204;p22" title="TCC ESCOLA NUVEM GRUPO2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4225" y="1341124"/>
            <a:ext cx="8758300" cy="492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30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1B2330"/>
                </a:solidFill>
                <a:latin typeface="Arial"/>
                <a:ea typeface="Arial"/>
                <a:cs typeface="Arial"/>
                <a:sym typeface="Arial"/>
              </a:rPr>
              <a:t>Melhorias Futuras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640074" y="1704475"/>
            <a:ext cx="4719325" cy="42780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Adicionar Amazon CloudFront</a:t>
            </a:r>
            <a:endParaRPr b="1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1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Melhorar a performance de download dos documentos e reduzir a latência para usuários distribuídos geograficamente.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Benefícios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Menor tempo de resposta.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Cache de conteúdo estático.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Redução de requisições diretas ao S3.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Proteção adicional com AWS Shield Standard integrado.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Evolução esperada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Melhoria perceptível na experiência do usuário, especialmente em cenários com crescimento nacional ou internacional.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6094476" y="1704475"/>
            <a:ext cx="4719325" cy="6155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6626007" y="1704475"/>
            <a:ext cx="4719325" cy="40626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Automatizar Processamento com Amazon Textract</a:t>
            </a:r>
            <a:endParaRPr b="1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1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Extrair informações automaticamente dos documentos enviados.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1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Casos de uso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Contratos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Notas fiscais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Formulários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Documentos digitalizados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Benefícios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Pesquisa por conteúdo.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Extração automática de metadados.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estruturada para IA generativa.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Menor trabalho manual.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10287000" y="6495425"/>
            <a:ext cx="1823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161D28"/>
                </a:solidFill>
                <a:latin typeface="Arial"/>
                <a:ea typeface="Arial"/>
                <a:cs typeface="Arial"/>
                <a:sym typeface="Arial"/>
              </a:rPr>
              <a:t>Beatriz Vaz</a:t>
            </a:r>
            <a:endParaRPr b="0" i="0" spc="0" sz="1400" u="none" cap="none" strike="noStrike">
              <a:solidFill>
                <a:srgbClr val="161D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E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/>
        </p:nvSpPr>
        <p:spPr>
          <a:xfrm>
            <a:off x="640080" y="457200"/>
            <a:ext cx="10908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pt-BR" spc="0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b="0" i="0" spc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640080" y="1645920"/>
            <a:ext cx="3453300" cy="2560200"/>
          </a:xfrm>
          <a:prstGeom prst="roundRect">
            <a:avLst>
              <a:gd fmla="val 3571" name="adj"/>
            </a:avLst>
          </a:prstGeom>
          <a:solidFill>
            <a:srgbClr val="22314A"/>
          </a:solidFill>
          <a:ln cap="flat" cmpd="sng" w="9525">
            <a:solidFill>
              <a:srgbClr val="22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F0A04B"/>
                </a:solidFill>
                <a:latin typeface="Arial"/>
                <a:ea typeface="Arial"/>
                <a:cs typeface="Arial"/>
                <a:sym typeface="Arial"/>
              </a:rPr>
              <a:t>01. Problema</a:t>
            </a:r>
            <a:endParaRPr b="0" i="0" spc="0" sz="1400" u="none" cap="none" strike="noStrike">
              <a:solidFill>
                <a:srgbClr val="F0A0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Arial"/>
              <a:buChar char="●"/>
            </a:pPr>
            <a:r>
              <a:rPr b="0" i="0" lang="pt-BR" spc="0" sz="1400" u="none" cap="none" strike="noStrike">
                <a:solidFill>
                  <a:srgbClr val="F6F4EF"/>
                </a:solidFill>
                <a:latin typeface="Arial"/>
                <a:ea typeface="Arial"/>
                <a:cs typeface="Arial"/>
                <a:sym typeface="Arial"/>
              </a:rPr>
              <a:t>Gerenciar 50 mil documentos por mês </a:t>
            </a:r>
            <a:endParaRPr b="0" i="0" spc="0" sz="1400" u="none" cap="none" strike="noStrike">
              <a:solidFill>
                <a:srgbClr val="F6F4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Arial"/>
              <a:buChar char="●"/>
            </a:pPr>
            <a:r>
              <a:rPr b="0" i="0" lang="pt-BR" spc="0" sz="1400" u="none" cap="none" strike="noStrike">
                <a:solidFill>
                  <a:srgbClr val="F6F4EF"/>
                </a:solidFill>
                <a:latin typeface="Arial"/>
                <a:ea typeface="Arial"/>
                <a:cs typeface="Arial"/>
                <a:sym typeface="Arial"/>
              </a:rPr>
              <a:t>Garantindo retenção por 12 meses</a:t>
            </a:r>
            <a:endParaRPr b="0" i="0" spc="0" sz="1400" u="none" cap="none" strike="noStrike">
              <a:solidFill>
                <a:srgbClr val="F6F4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Arial"/>
              <a:buChar char="●"/>
            </a:pPr>
            <a:r>
              <a:rPr b="0" i="0" lang="pt-BR" spc="0" sz="1400" u="none" cap="none" strike="noStrike">
                <a:solidFill>
                  <a:srgbClr val="F6F4EF"/>
                </a:solidFill>
                <a:latin typeface="Arial"/>
                <a:ea typeface="Arial"/>
                <a:cs typeface="Arial"/>
                <a:sym typeface="Arial"/>
              </a:rPr>
              <a:t>segurança e controle dos custos de armazenamento.</a:t>
            </a:r>
            <a:endParaRPr b="0" i="0" spc="0" sz="1400" u="none" cap="none" strike="noStrike">
              <a:solidFill>
                <a:srgbClr val="F6F4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4367784" y="1645920"/>
            <a:ext cx="3453300" cy="2560200"/>
          </a:xfrm>
          <a:prstGeom prst="roundRect">
            <a:avLst>
              <a:gd fmla="val 3571" name="adj"/>
            </a:avLst>
          </a:prstGeom>
          <a:solidFill>
            <a:srgbClr val="22314A"/>
          </a:solidFill>
          <a:ln cap="flat" cmpd="sng" w="9525">
            <a:solidFill>
              <a:srgbClr val="22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F0A04B"/>
                </a:solidFill>
                <a:latin typeface="Arial"/>
                <a:ea typeface="Arial"/>
                <a:cs typeface="Arial"/>
                <a:sym typeface="Arial"/>
              </a:rPr>
              <a:t>02. Solução</a:t>
            </a:r>
            <a:endParaRPr b="0" i="0" spc="0" sz="1400" u="none" cap="none" strike="noStrike">
              <a:solidFill>
                <a:srgbClr val="F0A0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Arial"/>
              <a:buChar char="●"/>
            </a:pPr>
            <a:r>
              <a:rPr b="0" i="0" lang="pt-BR" spc="0" sz="1400" u="none" cap="none" strike="noStrike">
                <a:solidFill>
                  <a:srgbClr val="F6F4EF"/>
                </a:solidFill>
                <a:latin typeface="Arial"/>
                <a:ea typeface="Arial"/>
                <a:cs typeface="Arial"/>
                <a:sym typeface="Arial"/>
              </a:rPr>
              <a:t>Arquitetura serverless na AWS utilizando: </a:t>
            </a:r>
            <a:endParaRPr b="0" i="0" spc="0" sz="1400" u="none" cap="none" strike="noStrike">
              <a:solidFill>
                <a:srgbClr val="F6F4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Arial"/>
              <a:buChar char="●"/>
            </a:pPr>
            <a:r>
              <a:rPr b="0" i="0" lang="pt-BR" spc="0" sz="1400" u="none" cap="none" strike="noStrike">
                <a:solidFill>
                  <a:srgbClr val="F6F4EF"/>
                </a:solidFill>
                <a:latin typeface="Arial"/>
                <a:ea typeface="Arial"/>
                <a:cs typeface="Arial"/>
                <a:sym typeface="Arial"/>
              </a:rPr>
              <a:t>S3, Lambda, DynamoDB, Cognito e API Gateway </a:t>
            </a:r>
            <a:endParaRPr b="0" i="0" spc="0" sz="1400" u="none" cap="none" strike="noStrike">
              <a:solidFill>
                <a:srgbClr val="F6F4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Arial"/>
              <a:buChar char="●"/>
            </a:pPr>
            <a:r>
              <a:rPr b="0" i="0" lang="pt-BR" spc="0" sz="1400" u="none" cap="none" strike="noStrike">
                <a:solidFill>
                  <a:srgbClr val="F6F4EF"/>
                </a:solidFill>
                <a:latin typeface="Arial"/>
                <a:ea typeface="Arial"/>
                <a:cs typeface="Arial"/>
                <a:sym typeface="Arial"/>
              </a:rPr>
              <a:t>Criptografia e arquivamento automático.</a:t>
            </a:r>
            <a:endParaRPr b="0" i="0" spc="0" sz="1400" u="none" cap="none" strike="noStrike">
              <a:solidFill>
                <a:srgbClr val="F6F4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8095488" y="1645920"/>
            <a:ext cx="3453300" cy="2560200"/>
          </a:xfrm>
          <a:prstGeom prst="roundRect">
            <a:avLst>
              <a:gd fmla="val 3571" name="adj"/>
            </a:avLst>
          </a:prstGeom>
          <a:solidFill>
            <a:srgbClr val="22314A"/>
          </a:solidFill>
          <a:ln cap="flat" cmpd="sng" w="9525">
            <a:solidFill>
              <a:srgbClr val="2231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F0A04B"/>
                </a:solidFill>
                <a:latin typeface="Arial"/>
                <a:ea typeface="Arial"/>
                <a:cs typeface="Arial"/>
                <a:sym typeface="Arial"/>
              </a:rPr>
              <a:t>03. Benefícios</a:t>
            </a:r>
            <a:endParaRPr b="0" i="0" spc="0" sz="1400" u="none" cap="none" strike="noStrike">
              <a:solidFill>
                <a:srgbClr val="F0A0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4E0D6"/>
              </a:buClr>
              <a:buSzPts val="1400"/>
              <a:buFont typeface="Arial"/>
              <a:buChar char="●"/>
            </a:pPr>
            <a:r>
              <a:rPr b="0" i="0" lang="pt-BR" spc="0" sz="1400" u="none" cap="none" strike="noStrike">
                <a:solidFill>
                  <a:srgbClr val="E4E0D6"/>
                </a:solidFill>
                <a:latin typeface="Arial"/>
                <a:ea typeface="Arial"/>
                <a:cs typeface="Arial"/>
                <a:sym typeface="Arial"/>
              </a:rPr>
              <a:t>Mais segurança e isolamento entre clientes </a:t>
            </a:r>
            <a:endParaRPr b="0" i="0" spc="0" sz="1400" u="none" cap="none" strike="noStrike">
              <a:solidFill>
                <a:srgbClr val="E4E0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E0D6"/>
              </a:buClr>
              <a:buSzPts val="1400"/>
              <a:buFont typeface="Arial"/>
              <a:buChar char="●"/>
            </a:pPr>
            <a:r>
              <a:rPr b="0" i="0" lang="pt-BR" spc="0" sz="1400" u="none" cap="none" strike="noStrike">
                <a:solidFill>
                  <a:srgbClr val="E4E0D6"/>
                </a:solidFill>
                <a:latin typeface="Arial"/>
                <a:ea typeface="Arial"/>
                <a:cs typeface="Arial"/>
                <a:sym typeface="Arial"/>
              </a:rPr>
              <a:t>Escalabilidade </a:t>
            </a:r>
            <a:endParaRPr b="0" i="0" spc="0" sz="1400" u="none" cap="none" strike="noStrike">
              <a:solidFill>
                <a:srgbClr val="E4E0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E0D6"/>
              </a:buClr>
              <a:buSzPts val="1400"/>
              <a:buFont typeface="Arial"/>
              <a:buChar char="●"/>
            </a:pPr>
            <a:r>
              <a:rPr b="0" i="0" lang="pt-BR" spc="0" sz="1400" u="none" cap="none" strike="noStrike">
                <a:solidFill>
                  <a:srgbClr val="E4E0D6"/>
                </a:solidFill>
                <a:latin typeface="Arial"/>
                <a:ea typeface="Arial"/>
                <a:cs typeface="Arial"/>
                <a:sym typeface="Arial"/>
              </a:rPr>
              <a:t>Recuperação de dados</a:t>
            </a:r>
            <a:endParaRPr b="0" i="0" spc="0" sz="1400" u="none" cap="none" strike="noStrike">
              <a:solidFill>
                <a:srgbClr val="E4E0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E0D6"/>
              </a:buClr>
              <a:buSzPts val="1400"/>
              <a:buFont typeface="Arial"/>
              <a:buChar char="●"/>
            </a:pPr>
            <a:r>
              <a:rPr b="0" i="0" lang="pt-BR" spc="0" sz="1400" u="none" cap="none" strike="noStrike">
                <a:solidFill>
                  <a:srgbClr val="E4E0D6"/>
                </a:solidFill>
                <a:latin typeface="Arial"/>
                <a:ea typeface="Arial"/>
                <a:cs typeface="Arial"/>
                <a:sym typeface="Arial"/>
              </a:rPr>
              <a:t>Redução de custos de armazenamento.</a:t>
            </a:r>
            <a:endParaRPr b="0" i="0" spc="0" sz="1400" u="none" cap="none" strike="noStrike">
              <a:solidFill>
                <a:srgbClr val="E4E0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E4E0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6"/>
          <p:cNvSpPr txBox="1"/>
          <p:nvPr/>
        </p:nvSpPr>
        <p:spPr>
          <a:xfrm>
            <a:off x="9717225" y="6288225"/>
            <a:ext cx="22065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pc="0" sz="1400" u="none" cap="none" strike="noStrike">
                <a:solidFill>
                  <a:srgbClr val="F6F4EF"/>
                </a:solidFill>
                <a:latin typeface="Arial"/>
                <a:ea typeface="Arial"/>
                <a:cs typeface="Arial"/>
                <a:sym typeface="Arial"/>
              </a:rPr>
              <a:t>Luis</a:t>
            </a:r>
            <a:endParaRPr b="0" i="0" spc="0" sz="1400" u="none" cap="none" strike="noStrike">
              <a:solidFill>
                <a:srgbClr val="F6F4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